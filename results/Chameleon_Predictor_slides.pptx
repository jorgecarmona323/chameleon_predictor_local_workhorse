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Chameleon Predictor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3D Conformational Descriptors for Cyclic Peptide Membrane Permeation</a:t>
            </a:r>
          </a:p>
          <a:p>
            <a:r>
              <a:t>Jorge Carmona ·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22222"/>
                </a:solidFill>
              </a:defRPr>
            </a:pPr>
            <a:r>
              <a:t>Pipeline Methodology</a:t>
            </a:r>
          </a:p>
        </p:txBody>
      </p:sp>
      <p:pic>
        <p:nvPicPr>
          <p:cNvPr id="3" name="Picture 2" descr="methodology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594360"/>
            <a:ext cx="859536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22222"/>
                </a:solidFill>
              </a:defRPr>
            </a:pPr>
            <a:r>
              <a:t>UMAP Panel B — 3D Δ Features (1,502 compounds, Furukawa + Chugai)</a:t>
            </a:r>
          </a:p>
        </p:txBody>
      </p:sp>
      <p:pic>
        <p:nvPicPr>
          <p:cNvPr id="3" name="Picture 2" descr="Panel_B_3D_delta_umap_15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594360"/>
            <a:ext cx="8595360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555555"/>
                </a:solidFill>
              </a:defRPr>
            </a:pPr>
            <a:r>
              <a:t>AUC = 0.744 on clean homogeneous subset. Two-population structure: chameleonic (high ΔPSA) vs. rigid/polar.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22222"/>
                </a:solidFill>
              </a:defRPr>
            </a:pPr>
            <a:r>
              <a:t>UMAP Panel B — 3D Δ Features (Full 7k)</a:t>
            </a:r>
          </a:p>
        </p:txBody>
      </p:sp>
      <p:pic>
        <p:nvPicPr>
          <p:cNvPr id="3" name="Picture 2" descr="Panel_B_3D_delta_u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594360"/>
            <a:ext cx="8595360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555555"/>
                </a:solidFill>
              </a:defRPr>
            </a:pPr>
            <a:r>
              <a:t>AUC = 0.505. Two-population structure survives but PAMPA label noise (Townsend/Kelly pooled protocol) washes out the permeability signal.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22222"/>
                </a:solidFill>
              </a:defRPr>
            </a:pPr>
            <a:r>
              <a:t>UMAP Panel C + Track D — MW Coloring (1,566 compounds)</a:t>
            </a:r>
          </a:p>
        </p:txBody>
      </p:sp>
      <p:pic>
        <p:nvPicPr>
          <p:cNvPr id="3" name="Picture 2" descr="Panel_C_combined_umap_15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594360"/>
            <a:ext cx="8595360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555555"/>
                </a:solidFill>
              </a:defRPr>
            </a:pPr>
            <a:r>
              <a:t>Permeable cluster median MW = 1,180 Da vs. impermeable = 820 Da (1.44×). Chameleonic behavior is size-gated: large macrolides only.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22222"/>
                </a:solidFill>
              </a:defRPr>
            </a:pPr>
            <a:r>
              <a:t>UMAP Panel C + Track D — MW Coloring (Full 7k)</a:t>
            </a:r>
          </a:p>
        </p:txBody>
      </p:sp>
      <p:pic>
        <p:nvPicPr>
          <p:cNvPr id="3" name="Picture 2" descr="Panel_C_combined_umap_69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594360"/>
            <a:ext cx="8595360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35508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555555"/>
                </a:solidFill>
              </a:defRPr>
            </a:pPr>
            <a:r>
              <a:t>MW gap disappears on full dataset (permeable = impermeable = 820 Da). Cross-source label noise inverts the size-permeability signal.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